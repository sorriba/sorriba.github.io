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708"/>
  </p:normalViewPr>
  <p:slideViewPr>
    <p:cSldViewPr snapToGrid="0">
      <p:cViewPr varScale="1">
        <p:scale>
          <a:sx n="71" d="100"/>
          <a:sy n="71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7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CA3DA5-BA67-3E52-A867-F03A0D753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7374" y="1263404"/>
            <a:ext cx="8247189" cy="3115075"/>
          </a:xfrm>
        </p:spPr>
        <p:txBody>
          <a:bodyPr>
            <a:normAutofit/>
          </a:bodyPr>
          <a:lstStyle/>
          <a:p>
            <a:pPr algn="l"/>
            <a:r>
              <a:rPr lang="en-US" sz="7200">
                <a:solidFill>
                  <a:schemeClr val="accent1"/>
                </a:solidFill>
              </a:rPr>
              <a:t>NYPD Shooting Incident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DFB81-69BE-022D-6AF1-799482BC0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7374" y="4560432"/>
            <a:ext cx="8300202" cy="1228171"/>
          </a:xfrm>
        </p:spPr>
        <p:txBody>
          <a:bodyPr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Analyzing shootings in NYC between 2006-2023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F39476B-1A6D-47CB-AC7A-FB87EF00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90253" y="3276595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6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75"/>
    </mc:Choice>
    <mc:Fallback xmlns="">
      <p:transition spd="slow" advTm="318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DAE3342-9DFC-49D4-B09C-25E310769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49E0D20-8423-4612-99A5-14AEF8F6B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57C2C108-5A30-48CA-9203-56747AEB7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1A343912-2EFC-408E-A862-5C9BF108D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AA50D1CF-9DAE-4CF6-B829-E66CEE9D5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FE5799A4-0568-433E-BF41-752CF516A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CDBB86ED-F16F-4C28-BDD5-72D771176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347939E-8B76-4CFC-B2EC-63A7E2278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A1DD132-02E4-4CD3-B496-BFF924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710BDA52-A7D7-4E4E-9F36-EC8F983EA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B1BDF852-319F-42B8-9A50-7C9A9387C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AACE376-C01E-4F1F-91B7-39D0274BF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7F612F4C-050E-459D-9771-ED088374A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94E4211B-3E41-4905-8F4E-76811B9E5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6AEC87EE-0CB8-43DE-8FEB-4586A92E8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277C1C5D-7BDC-47E4-8B81-C3C4AE949B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7A2A6EF8-9768-4478-9CD3-DFA547CEF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1FD9091C-E8FA-4ADA-937F-A74426ED1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B69923E7-63C4-47CE-956E-09D384D4F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2576784-872E-494C-A041-0E346226B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54F73D8-62C2-4127-9D19-01219BBB9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FD8CA02-9BE5-4B82-8129-6EF618402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01515E68-030C-4313-B300-35253163D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937725F-1DDF-4225-937E-106DBB047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306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0F7BAF-F4FB-3C13-A684-345867C7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11" y="5408511"/>
            <a:ext cx="9435152" cy="789673"/>
          </a:xfrm>
        </p:spPr>
        <p:txBody>
          <a:bodyPr vert="horz" lIns="228600" tIns="228600" rIns="228600" bIns="0" rtlCol="0" anchor="ctr"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en-US" sz="2800" dirty="0">
                <a:solidFill>
                  <a:schemeClr val="bg1"/>
                </a:solidFill>
              </a:rPr>
              <a:t>Which Borough in NYC has the most shootings?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How old are the victims?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When do shootings occur?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Do all shooting lead to murder?</a:t>
            </a:r>
          </a:p>
        </p:txBody>
      </p:sp>
      <p:pic>
        <p:nvPicPr>
          <p:cNvPr id="5" name="Picture 4" descr="Cityscape against on daylight">
            <a:extLst>
              <a:ext uri="{FF2B5EF4-FFF2-40B4-BE49-F238E27FC236}">
                <a16:creationId xmlns:a16="http://schemas.microsoft.com/office/drawing/2014/main" id="{06E84203-0DEE-EAB4-746B-058901ABB5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60" b="2576"/>
          <a:stretch/>
        </p:blipFill>
        <p:spPr>
          <a:xfrm>
            <a:off x="20" y="10"/>
            <a:ext cx="12191980" cy="5058947"/>
          </a:xfrm>
          <a:custGeom>
            <a:avLst/>
            <a:gdLst/>
            <a:ahLst/>
            <a:cxnLst/>
            <a:rect l="l" t="t" r="r" b="b"/>
            <a:pathLst>
              <a:path w="12192000" h="5058957">
                <a:moveTo>
                  <a:pt x="0" y="0"/>
                </a:moveTo>
                <a:lnTo>
                  <a:pt x="12192000" y="0"/>
                </a:lnTo>
                <a:lnTo>
                  <a:pt x="12192000" y="259692"/>
                </a:lnTo>
                <a:lnTo>
                  <a:pt x="12192000" y="3542069"/>
                </a:lnTo>
                <a:lnTo>
                  <a:pt x="12192000" y="3734194"/>
                </a:lnTo>
                <a:lnTo>
                  <a:pt x="12192000" y="4710012"/>
                </a:lnTo>
                <a:lnTo>
                  <a:pt x="12113803" y="4718295"/>
                </a:lnTo>
                <a:cubicBezTo>
                  <a:pt x="10139508" y="4916244"/>
                  <a:pt x="8237152" y="5009247"/>
                  <a:pt x="6753597" y="5041852"/>
                </a:cubicBezTo>
                <a:cubicBezTo>
                  <a:pt x="4940362" y="5081701"/>
                  <a:pt x="2657278" y="5062371"/>
                  <a:pt x="400746" y="4870509"/>
                </a:cubicBezTo>
                <a:lnTo>
                  <a:pt x="0" y="4833533"/>
                </a:lnTo>
                <a:lnTo>
                  <a:pt x="0" y="3734194"/>
                </a:lnTo>
                <a:lnTo>
                  <a:pt x="0" y="3542069"/>
                </a:lnTo>
                <a:lnTo>
                  <a:pt x="0" y="25969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1767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08"/>
    </mc:Choice>
    <mc:Fallback xmlns="">
      <p:transition spd="slow" advTm="3440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8915-B014-3438-24A1-2C26472A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Shootings on average take place in the </a:t>
            </a:r>
            <a:r>
              <a:rPr lang="en-US" i="1" dirty="0"/>
              <a:t>afternoon</a:t>
            </a:r>
            <a:r>
              <a:rPr lang="en-US" dirty="0"/>
              <a:t> for all age groups</a:t>
            </a:r>
          </a:p>
        </p:txBody>
      </p:sp>
      <p:pic>
        <p:nvPicPr>
          <p:cNvPr id="5" name="Content Placeholder 4" descr="A graph of red rectangular objects&#10;&#10;Description automatically generated">
            <a:extLst>
              <a:ext uri="{FF2B5EF4-FFF2-40B4-BE49-F238E27FC236}">
                <a16:creationId xmlns:a16="http://schemas.microsoft.com/office/drawing/2014/main" id="{D4800F16-1D52-2E2C-BDDC-79620CE3E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8100" y="1472794"/>
            <a:ext cx="6281738" cy="39092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0D1E7-A282-7F71-AD1C-B2ABA27A8C8B}"/>
              </a:ext>
            </a:extLst>
          </p:cNvPr>
          <p:cNvSpPr txBox="1"/>
          <p:nvPr/>
        </p:nvSpPr>
        <p:spPr>
          <a:xfrm>
            <a:off x="1024248" y="1744133"/>
            <a:ext cx="3227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Victim Age vs Shooting Time</a:t>
            </a:r>
          </a:p>
        </p:txBody>
      </p:sp>
    </p:spTree>
    <p:extLst>
      <p:ext uri="{BB962C8B-B14F-4D97-AF65-F5344CB8AC3E}">
        <p14:creationId xmlns:p14="http://schemas.microsoft.com/office/powerpoint/2010/main" val="210116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66"/>
    </mc:Choice>
    <mc:Fallback xmlns="">
      <p:transition spd="slow" advTm="4596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815D-08C2-65B5-1660-A87827CC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Shootings on average occurred in the </a:t>
            </a:r>
            <a:r>
              <a:rPr lang="en-US" i="1" dirty="0"/>
              <a:t>afternoon</a:t>
            </a:r>
            <a:r>
              <a:rPr lang="en-US" dirty="0"/>
              <a:t> in each Borough</a:t>
            </a:r>
          </a:p>
        </p:txBody>
      </p:sp>
      <p:pic>
        <p:nvPicPr>
          <p:cNvPr id="5" name="Content Placeholder 4" descr="A row of red rectangular objects with blue dots&#10;&#10;Description automatically generated">
            <a:extLst>
              <a:ext uri="{FF2B5EF4-FFF2-40B4-BE49-F238E27FC236}">
                <a16:creationId xmlns:a16="http://schemas.microsoft.com/office/drawing/2014/main" id="{04986B7B-19DC-73FE-8886-BEB47BF941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8100" y="1490768"/>
            <a:ext cx="6281738" cy="387328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098337-5F60-2242-D2B3-7AB5AD8AA33A}"/>
              </a:ext>
            </a:extLst>
          </p:cNvPr>
          <p:cNvSpPr txBox="1"/>
          <p:nvPr/>
        </p:nvSpPr>
        <p:spPr>
          <a:xfrm>
            <a:off x="1166820" y="1761067"/>
            <a:ext cx="294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Borough vs Shooting Time</a:t>
            </a:r>
          </a:p>
        </p:txBody>
      </p:sp>
    </p:spTree>
    <p:extLst>
      <p:ext uri="{BB962C8B-B14F-4D97-AF65-F5344CB8AC3E}">
        <p14:creationId xmlns:p14="http://schemas.microsoft.com/office/powerpoint/2010/main" val="217072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010"/>
    </mc:Choice>
    <mc:Fallback xmlns="">
      <p:transition spd="slow" advTm="2801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2554-3864-CC77-9D3C-28EB1AA8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18-24 and 25-44 years olds </a:t>
            </a:r>
            <a:r>
              <a:rPr lang="en-US" dirty="0"/>
              <a:t>were victims of most shootings</a:t>
            </a:r>
          </a:p>
        </p:txBody>
      </p:sp>
      <p:pic>
        <p:nvPicPr>
          <p:cNvPr id="5" name="Content Placeholder 4" descr="A graph of a number of people&#10;&#10;Description automatically generated">
            <a:extLst>
              <a:ext uri="{FF2B5EF4-FFF2-40B4-BE49-F238E27FC236}">
                <a16:creationId xmlns:a16="http://schemas.microsoft.com/office/drawing/2014/main" id="{47F83B82-AF23-5431-9647-BF0543270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8100" y="1749414"/>
            <a:ext cx="6281738" cy="335599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C2791C-53C9-8C5F-24B3-B6B22770773F}"/>
              </a:ext>
            </a:extLst>
          </p:cNvPr>
          <p:cNvSpPr txBox="1"/>
          <p:nvPr/>
        </p:nvSpPr>
        <p:spPr>
          <a:xfrm>
            <a:off x="888631" y="1759969"/>
            <a:ext cx="3567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Victim Age vs Number of Shootings </a:t>
            </a:r>
          </a:p>
        </p:txBody>
      </p:sp>
    </p:spTree>
    <p:extLst>
      <p:ext uri="{BB962C8B-B14F-4D97-AF65-F5344CB8AC3E}">
        <p14:creationId xmlns:p14="http://schemas.microsoft.com/office/powerpoint/2010/main" val="272329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58"/>
    </mc:Choice>
    <mc:Fallback xmlns="">
      <p:transition spd="slow" advTm="4105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8610-CD23-0CFD-51C7-0BEA6E0E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Most shootings occurred in </a:t>
            </a:r>
            <a:r>
              <a:rPr lang="en-US" i="1" dirty="0"/>
              <a:t>the</a:t>
            </a:r>
            <a:r>
              <a:rPr lang="en-US" dirty="0"/>
              <a:t> </a:t>
            </a:r>
            <a:r>
              <a:rPr lang="en-US" i="1" dirty="0"/>
              <a:t>Bronx and Brooklyn</a:t>
            </a:r>
          </a:p>
        </p:txBody>
      </p:sp>
      <p:pic>
        <p:nvPicPr>
          <p:cNvPr id="5" name="Content Placeholder 4" descr="A graph of different sizes of squares&#10;&#10;Description automatically generated">
            <a:extLst>
              <a:ext uri="{FF2B5EF4-FFF2-40B4-BE49-F238E27FC236}">
                <a16:creationId xmlns:a16="http://schemas.microsoft.com/office/drawing/2014/main" id="{3C64B5E5-DD88-54B3-5705-9BB802EF5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8100" y="1689401"/>
            <a:ext cx="6281738" cy="34760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40132A-12C8-DF44-CEEE-87F774A99023}"/>
              </a:ext>
            </a:extLst>
          </p:cNvPr>
          <p:cNvSpPr txBox="1"/>
          <p:nvPr/>
        </p:nvSpPr>
        <p:spPr>
          <a:xfrm>
            <a:off x="792162" y="1699904"/>
            <a:ext cx="4050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Borough vs Number of Shootings</a:t>
            </a:r>
          </a:p>
        </p:txBody>
      </p:sp>
    </p:spTree>
    <p:extLst>
      <p:ext uri="{BB962C8B-B14F-4D97-AF65-F5344CB8AC3E}">
        <p14:creationId xmlns:p14="http://schemas.microsoft.com/office/powerpoint/2010/main" val="3195562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27"/>
    </mc:Choice>
    <mc:Fallback xmlns="">
      <p:transition spd="slow" advTm="1732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306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1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EFA464-2BE3-6D4C-3DE0-5367DB8DB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352" y="4588466"/>
            <a:ext cx="4980883" cy="1777829"/>
          </a:xfrm>
        </p:spPr>
        <p:txBody>
          <a:bodyPr vert="horz" lIns="228600" tIns="228600" rIns="228600" bIns="0" rtlCol="0">
            <a:normAutofit/>
          </a:bodyPr>
          <a:lstStyle/>
          <a:p>
            <a:pPr marL="342900" indent="-342900" algn="l">
              <a:buFont typeface="Wingdings" pitchFamily="2" charset="2"/>
              <a:buChar char="v"/>
            </a:pPr>
            <a:r>
              <a:rPr lang="en-US" sz="2200" i="1" dirty="0">
                <a:solidFill>
                  <a:schemeClr val="tx1"/>
                </a:solidFill>
              </a:rPr>
              <a:t>A total of roughly 28,500 shootings between 2006 and 2023. Victims aged 25-44 experienced the most shootings and Brooklyn had the highest number of shootings.</a:t>
            </a: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44C110BA-81E8-4247-853A-5F2B93E9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37825"/>
          </a:xfrm>
          <a:custGeom>
            <a:avLst/>
            <a:gdLst>
              <a:gd name="connsiteX0" fmla="*/ 0 w 12192000"/>
              <a:gd name="connsiteY0" fmla="*/ 0 h 4537825"/>
              <a:gd name="connsiteX1" fmla="*/ 12192000 w 12192000"/>
              <a:gd name="connsiteY1" fmla="*/ 0 h 4537825"/>
              <a:gd name="connsiteX2" fmla="*/ 12192000 w 12192000"/>
              <a:gd name="connsiteY2" fmla="*/ 3020937 h 4537825"/>
              <a:gd name="connsiteX3" fmla="*/ 12192000 w 12192000"/>
              <a:gd name="connsiteY3" fmla="*/ 3213062 h 4537825"/>
              <a:gd name="connsiteX4" fmla="*/ 12192000 w 12192000"/>
              <a:gd name="connsiteY4" fmla="*/ 4188880 h 4537825"/>
              <a:gd name="connsiteX5" fmla="*/ 12113803 w 12192000"/>
              <a:gd name="connsiteY5" fmla="*/ 4197163 h 4537825"/>
              <a:gd name="connsiteX6" fmla="*/ 6753597 w 12192000"/>
              <a:gd name="connsiteY6" fmla="*/ 4520720 h 4537825"/>
              <a:gd name="connsiteX7" fmla="*/ 400746 w 12192000"/>
              <a:gd name="connsiteY7" fmla="*/ 4349377 h 4537825"/>
              <a:gd name="connsiteX8" fmla="*/ 0 w 12192000"/>
              <a:gd name="connsiteY8" fmla="*/ 4312401 h 4537825"/>
              <a:gd name="connsiteX9" fmla="*/ 0 w 12192000"/>
              <a:gd name="connsiteY9" fmla="*/ 3213062 h 4537825"/>
              <a:gd name="connsiteX10" fmla="*/ 0 w 12192000"/>
              <a:gd name="connsiteY10" fmla="*/ 3020937 h 4537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537825">
                <a:moveTo>
                  <a:pt x="0" y="0"/>
                </a:moveTo>
                <a:lnTo>
                  <a:pt x="12192000" y="0"/>
                </a:lnTo>
                <a:lnTo>
                  <a:pt x="12192000" y="3020937"/>
                </a:lnTo>
                <a:lnTo>
                  <a:pt x="12192000" y="3213062"/>
                </a:lnTo>
                <a:lnTo>
                  <a:pt x="12192000" y="4188880"/>
                </a:lnTo>
                <a:lnTo>
                  <a:pt x="12113803" y="4197163"/>
                </a:lnTo>
                <a:cubicBezTo>
                  <a:pt x="10139508" y="4395112"/>
                  <a:pt x="8237152" y="4488115"/>
                  <a:pt x="6753597" y="4520720"/>
                </a:cubicBezTo>
                <a:cubicBezTo>
                  <a:pt x="4940362" y="4560569"/>
                  <a:pt x="2657278" y="4541239"/>
                  <a:pt x="400746" y="4349377"/>
                </a:cubicBezTo>
                <a:lnTo>
                  <a:pt x="0" y="4312401"/>
                </a:lnTo>
                <a:lnTo>
                  <a:pt x="0" y="3213062"/>
                </a:lnTo>
                <a:lnTo>
                  <a:pt x="0" y="3020937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screenshot of a group&#10;&#10;Description automatically generated">
            <a:extLst>
              <a:ext uri="{FF2B5EF4-FFF2-40B4-BE49-F238E27FC236}">
                <a16:creationId xmlns:a16="http://schemas.microsoft.com/office/drawing/2014/main" id="{9BA19AFA-3DDE-1775-FC29-6789120DC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8" y="658995"/>
            <a:ext cx="5046388" cy="3355848"/>
          </a:xfrm>
          <a:prstGeom prst="rect">
            <a:avLst/>
          </a:prstGeom>
        </p:spPr>
      </p:pic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E624E677-9417-B162-2DD2-A48FCDC19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293" y="672751"/>
            <a:ext cx="5300659" cy="300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4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0541"/>
    </mc:Choice>
    <mc:Fallback xmlns="">
      <p:transition spd="slow" advTm="4054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8CAE4AE-A9DF-45AF-9A9C-1712BC634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272060-BC98-4C91-A58F-4DFEC566C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BA2DCB9-0DC0-4109-B2A2-56896E35E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4A33555-1142-4AD7-8084-1A99422A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BC6E4081-1A88-453E-8CCF-B97B0CE20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5B7E0935-6EE8-4C61-AED5-09B9A2A99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B962BD6-C878-48FF-A75E-DCC7BDA3C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CABF3786-BDE1-4FE5-9967-F6B6131A2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4969707A-C75E-4F7F-A5C2-2991C654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0E293989-8389-48CD-85D3-CAEFD5E96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8DCF1E8B-9247-45E2-8641-90DA9F7D5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8DF418F-91AD-4E55-AF3B-F28FF4596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EDBF35BD-D1DA-49B1-AE30-289189DAC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69198BEC-A3B6-4562-AB0F-3E776002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AB30D45-77AB-4323-83A2-1A637D07D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D1AD137E-7B63-434C-9D0D-5A64BB496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8B32BE2D-36DC-4BD0-952E-8FE32A70D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930295E0-AD01-4DB0-9829-AD91BED60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29807E74-6BFD-4EA7-B3F3-92C0728A7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C9EDBF49-4B87-4B6F-BEE6-DDC4A63CE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7738C468-1405-4ED9-8392-F93FA995E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F16402CF-F511-450A-8584-8C8A5B7E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85E5B49A-CFC2-4019-9BA6-528095F78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F89140-B9AD-73EC-7F66-FE685072F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686" y="795527"/>
            <a:ext cx="4123738" cy="1433323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tx2"/>
                </a:solidFill>
              </a:rPr>
              <a:t>Linear Model between Victim Age Group and Statistical Murder Flag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FE75F46-04CD-C1EE-E2C0-B86704858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15" y="1071531"/>
            <a:ext cx="5641848" cy="4696838"/>
          </a:xfrm>
          <a:prstGeom prst="rect">
            <a:avLst/>
          </a:prstGeom>
          <a:ln w="12700">
            <a:noFill/>
          </a:ln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1A288B-556A-4EA1-5F38-1D6E52B5F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2024" y="1818482"/>
            <a:ext cx="4099607" cy="3678237"/>
          </a:xfrm>
        </p:spPr>
        <p:txBody>
          <a:bodyPr>
            <a:normAutofit/>
          </a:bodyPr>
          <a:lstStyle/>
          <a:p>
            <a:r>
              <a:rPr lang="en-US" dirty="0"/>
              <a:t>Statistically significant relationship/correlation between victim age group and statistical murder flag (shooting results in a death/murder)</a:t>
            </a:r>
          </a:p>
          <a:p>
            <a:r>
              <a:rPr lang="en-US" dirty="0"/>
              <a:t>Assuming an alpha of .05, given the F-stat (47.85) and p-value (2.2e-16)</a:t>
            </a:r>
          </a:p>
        </p:txBody>
      </p:sp>
    </p:spTree>
    <p:extLst>
      <p:ext uri="{BB962C8B-B14F-4D97-AF65-F5344CB8AC3E}">
        <p14:creationId xmlns:p14="http://schemas.microsoft.com/office/powerpoint/2010/main" val="156118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236"/>
    </mc:Choice>
    <mc:Fallback xmlns="">
      <p:transition spd="slow" advTm="6323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2DAE3342-9DFC-49D4-B09C-25E310769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67" name="Freeform 5">
              <a:extLst>
                <a:ext uri="{FF2B5EF4-FFF2-40B4-BE49-F238E27FC236}">
                  <a16:creationId xmlns:a16="http://schemas.microsoft.com/office/drawing/2014/main" id="{E49E0D20-8423-4612-99A5-14AEF8F6B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57C2C108-5A30-48CA-9203-56747AEB7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1A343912-2EFC-408E-A862-5C9BF108D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AA50D1CF-9DAE-4CF6-B829-E66CEE9D5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FE5799A4-0568-433E-BF41-752CF516A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CDBB86ED-F16F-4C28-BDD5-72D771176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3347939E-8B76-4CFC-B2EC-63A7E2278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FA1DD132-02E4-4CD3-B496-BFF924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710BDA52-A7D7-4E4E-9F36-EC8F983EA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4">
              <a:extLst>
                <a:ext uri="{FF2B5EF4-FFF2-40B4-BE49-F238E27FC236}">
                  <a16:creationId xmlns:a16="http://schemas.microsoft.com/office/drawing/2014/main" id="{B1BDF852-319F-42B8-9A50-7C9A9387C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3AACE376-C01E-4F1F-91B7-39D0274BF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7F612F4C-050E-459D-9771-ED088374A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94E4211B-3E41-4905-8F4E-76811B9E5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6AEC87EE-0CB8-43DE-8FEB-4586A92E8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277C1C5D-7BDC-47E4-8B81-C3C4AE949B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0">
              <a:extLst>
                <a:ext uri="{FF2B5EF4-FFF2-40B4-BE49-F238E27FC236}">
                  <a16:creationId xmlns:a16="http://schemas.microsoft.com/office/drawing/2014/main" id="{7A2A6EF8-9768-4478-9CD3-DFA547CEF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1">
              <a:extLst>
                <a:ext uri="{FF2B5EF4-FFF2-40B4-BE49-F238E27FC236}">
                  <a16:creationId xmlns:a16="http://schemas.microsoft.com/office/drawing/2014/main" id="{1FD9091C-E8FA-4ADA-937F-A74426ED1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B69923E7-63C4-47CE-956E-09D384D4F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A2576784-872E-494C-A041-0E346226B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54F73D8-62C2-4127-9D19-01219BBB9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FD8CA02-9BE5-4B82-8129-6EF618402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01515E68-030C-4313-B300-35253163D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937725F-1DDF-4225-937E-106DBB047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FD8F1113-2E3C-46E3-B54F-B7F421EEF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5">
            <a:extLst>
              <a:ext uri="{FF2B5EF4-FFF2-40B4-BE49-F238E27FC236}">
                <a16:creationId xmlns:a16="http://schemas.microsoft.com/office/drawing/2014/main" id="{B54A4D14-513F-4121-92D3-5CCB4689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Freeform 6">
            <a:extLst>
              <a:ext uri="{FF2B5EF4-FFF2-40B4-BE49-F238E27FC236}">
                <a16:creationId xmlns:a16="http://schemas.microsoft.com/office/drawing/2014/main" id="{6C3411F1-AD17-499D-AFEF-2F300F6DF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Freeform 7">
            <a:extLst>
              <a:ext uri="{FF2B5EF4-FFF2-40B4-BE49-F238E27FC236}">
                <a16:creationId xmlns:a16="http://schemas.microsoft.com/office/drawing/2014/main" id="{60BF2CBE-B1E9-4C42-89DC-C35E4E651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Freeform 8">
            <a:extLst>
              <a:ext uri="{FF2B5EF4-FFF2-40B4-BE49-F238E27FC236}">
                <a16:creationId xmlns:a16="http://schemas.microsoft.com/office/drawing/2014/main" id="{72C95A87-DCDB-41C4-B774-744B3ECBE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Freeform 9">
            <a:extLst>
              <a:ext uri="{FF2B5EF4-FFF2-40B4-BE49-F238E27FC236}">
                <a16:creationId xmlns:a16="http://schemas.microsoft.com/office/drawing/2014/main" id="{BCB97515-32FF-43A6-A51C-B140193AB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Freeform 10">
            <a:extLst>
              <a:ext uri="{FF2B5EF4-FFF2-40B4-BE49-F238E27FC236}">
                <a16:creationId xmlns:a16="http://schemas.microsoft.com/office/drawing/2014/main" id="{9C6379D3-7045-4B76-9409-6D23D753D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Freeform 12">
            <a:extLst>
              <a:ext uri="{FF2B5EF4-FFF2-40B4-BE49-F238E27FC236}">
                <a16:creationId xmlns:a16="http://schemas.microsoft.com/office/drawing/2014/main" id="{61B1C1DE-4201-4989-BE65-41ADC2472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Freeform 14">
            <a:extLst>
              <a:ext uri="{FF2B5EF4-FFF2-40B4-BE49-F238E27FC236}">
                <a16:creationId xmlns:a16="http://schemas.microsoft.com/office/drawing/2014/main" id="{806398CC-D327-4E06-838C-31119BD56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Freeform 16">
            <a:extLst>
              <a:ext uri="{FF2B5EF4-FFF2-40B4-BE49-F238E27FC236}">
                <a16:creationId xmlns:a16="http://schemas.microsoft.com/office/drawing/2014/main" id="{70A741CC-E736-448A-A94E-5C8BB9711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Freeform 11">
            <a:extLst>
              <a:ext uri="{FF2B5EF4-FFF2-40B4-BE49-F238E27FC236}">
                <a16:creationId xmlns:a16="http://schemas.microsoft.com/office/drawing/2014/main" id="{7C324CDD-B30F-47DD-8627-E2171D5E8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Freeform 21">
            <a:extLst>
              <a:ext uri="{FF2B5EF4-FFF2-40B4-BE49-F238E27FC236}">
                <a16:creationId xmlns:a16="http://schemas.microsoft.com/office/drawing/2014/main" id="{79C8D19E-E3D6-45A6-BCA2-5918A37D7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A26906-704C-5622-6AC3-D76AF615E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908" y="648952"/>
            <a:ext cx="2929372" cy="2468207"/>
          </a:xfrm>
        </p:spPr>
        <p:txBody>
          <a:bodyPr vert="horz" lIns="228600" tIns="228600" rIns="228600" bIns="0" rtlCol="0" anchor="b"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6600" dirty="0">
                <a:solidFill>
                  <a:schemeClr val="tx2"/>
                </a:solidFill>
              </a:rPr>
              <a:t>Bias</a:t>
            </a:r>
          </a:p>
        </p:txBody>
      </p:sp>
      <p:sp>
        <p:nvSpPr>
          <p:cNvPr id="116" name="Freeform 22">
            <a:extLst>
              <a:ext uri="{FF2B5EF4-FFF2-40B4-BE49-F238E27FC236}">
                <a16:creationId xmlns:a16="http://schemas.microsoft.com/office/drawing/2014/main" id="{43280283-E04A-43CA-BFA1-F285486A2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8" name="Freeform 23">
            <a:extLst>
              <a:ext uri="{FF2B5EF4-FFF2-40B4-BE49-F238E27FC236}">
                <a16:creationId xmlns:a16="http://schemas.microsoft.com/office/drawing/2014/main" id="{38328CB6-0FC5-4AEA-BC7E-489267CB6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138AF5D2-3A9C-4E8F-B879-36865366A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5" name="Picture 4" descr="A picture of a viewing telescope with a city on its background">
            <a:extLst>
              <a:ext uri="{FF2B5EF4-FFF2-40B4-BE49-F238E27FC236}">
                <a16:creationId xmlns:a16="http://schemas.microsoft.com/office/drawing/2014/main" id="{57EFF9CC-B6F2-3006-D404-8C3D26C49B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6" r="3919" b="1"/>
          <a:stretch/>
        </p:blipFill>
        <p:spPr>
          <a:xfrm>
            <a:off x="932740" y="461405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8611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125"/>
    </mc:Choice>
    <mc:Fallback xmlns="">
      <p:transition spd="slow" advTm="1411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8CAE4AE-A9DF-45AF-9A9C-1712BC634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272060-BC98-4C91-A58F-4DFEC566C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BA2DCB9-0DC0-4109-B2A2-56896E35E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64A33555-1142-4AD7-8084-1A99422A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BC6E4081-1A88-453E-8CCF-B97B0CE20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5B7E0935-6EE8-4C61-AED5-09B9A2A99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EB962BD6-C878-48FF-A75E-DCC7BDA3C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CABF3786-BDE1-4FE5-9967-F6B6131A2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4969707A-C75E-4F7F-A5C2-2991C654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0E293989-8389-48CD-85D3-CAEFD5E96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8DCF1E8B-9247-45E2-8641-90DA9F7D5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48DF418F-91AD-4E55-AF3B-F28FF4596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EDBF35BD-D1DA-49B1-AE30-289189DAC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69198BEC-A3B6-4562-AB0F-3E776002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9AB30D45-77AB-4323-83A2-1A637D07D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D1AD137E-7B63-434C-9D0D-5A64BB496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8B32BE2D-36DC-4BD0-952E-8FE32A70D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930295E0-AD01-4DB0-9829-AD91BED60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29807E74-6BFD-4EA7-B3F3-92C0728A7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C9EDBF49-4B87-4B6F-BEE6-DDC4A63CE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7738C468-1405-4ED9-8392-F93FA995E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F16402CF-F511-450A-8584-8C8A5B7E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85E5B49A-CFC2-4019-9BA6-528095F78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rgbClr val="D1995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06C6E-17C1-459B-9179-884F97C22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561" y="1816102"/>
            <a:ext cx="4099607" cy="3678237"/>
          </a:xfrm>
        </p:spPr>
        <p:txBody>
          <a:bodyPr>
            <a:normAutofit fontScale="77500" lnSpcReduction="20000"/>
          </a:bodyPr>
          <a:lstStyle/>
          <a:p>
            <a:pPr>
              <a:buClr>
                <a:srgbClr val="D19953"/>
              </a:buClr>
            </a:pPr>
            <a:r>
              <a:rPr lang="en-US" dirty="0"/>
              <a:t>On average shootings occur in the afternoon across all victim age groups and boroughs</a:t>
            </a:r>
          </a:p>
          <a:p>
            <a:pPr>
              <a:buClr>
                <a:srgbClr val="D19953"/>
              </a:buClr>
            </a:pPr>
            <a:r>
              <a:rPr lang="en-US" dirty="0"/>
              <a:t>Roughly 28,500 recorded shootings between 2006 and 2023 in New York</a:t>
            </a:r>
          </a:p>
          <a:p>
            <a:pPr>
              <a:buClr>
                <a:srgbClr val="D19953"/>
              </a:buClr>
            </a:pPr>
            <a:r>
              <a:rPr lang="en-US" dirty="0"/>
              <a:t>Brooklyn (11346) and the Bronx (8376) had the most shootings</a:t>
            </a:r>
          </a:p>
          <a:p>
            <a:pPr>
              <a:buClr>
                <a:srgbClr val="D19953"/>
              </a:buClr>
            </a:pPr>
            <a:r>
              <a:rPr lang="en-US" dirty="0"/>
              <a:t>25-44 years old (12973) and 18-24 year olds (10384) most likely to be a shooting victim</a:t>
            </a:r>
          </a:p>
          <a:p>
            <a:pPr>
              <a:buClr>
                <a:srgbClr val="D19953"/>
              </a:buClr>
            </a:pPr>
            <a:r>
              <a:rPr lang="en-US" dirty="0"/>
              <a:t>Potential bias in policing and how crime data is obtained/recorded</a:t>
            </a:r>
          </a:p>
          <a:p>
            <a:pPr>
              <a:buClr>
                <a:srgbClr val="D19953"/>
              </a:buClr>
            </a:pPr>
            <a:r>
              <a:rPr lang="en-US" dirty="0"/>
              <a:t>Potential personal bias in assuming older people less likely to be involved in violent crime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FB6BE-4ECA-EEAC-D843-CBE5EC9E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738" y="1219081"/>
            <a:ext cx="4123738" cy="1433323"/>
          </a:xfrm>
        </p:spPr>
        <p:txBody>
          <a:bodyPr>
            <a:normAutofit fontScale="90000"/>
          </a:bodyPr>
          <a:lstStyle/>
          <a:p>
            <a:pPr algn="l"/>
            <a:r>
              <a:rPr lang="en-US" sz="5300" dirty="0">
                <a:solidFill>
                  <a:schemeClr val="tx2"/>
                </a:solidFill>
              </a:rPr>
              <a:t>Conclusion</a:t>
            </a:r>
            <a:br>
              <a:rPr lang="en-US" sz="3200" dirty="0">
                <a:solidFill>
                  <a:schemeClr val="tx2"/>
                </a:solidFill>
              </a:rPr>
            </a:br>
            <a:br>
              <a:rPr lang="en-US" sz="3200" dirty="0">
                <a:solidFill>
                  <a:schemeClr val="tx2"/>
                </a:solidFill>
              </a:rPr>
            </a:br>
            <a:endParaRPr lang="en-US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69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2281"/>
    </mc:Choice>
    <mc:Fallback xmlns="">
      <p:transition spd="slow" advTm="152281"/>
    </mc:Fallback>
  </mc:AlternateContent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110</TotalTime>
  <Words>267</Words>
  <Application>Microsoft Macintosh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 Light</vt:lpstr>
      <vt:lpstr>Rockwell</vt:lpstr>
      <vt:lpstr>Wingdings</vt:lpstr>
      <vt:lpstr>Atlas</vt:lpstr>
      <vt:lpstr>NYPD Shooting Incident Data</vt:lpstr>
      <vt:lpstr>Which Borough in NYC has the most shootings?  How old are the victims?  When do shootings occur?  Do all shooting lead to murder?</vt:lpstr>
      <vt:lpstr>Shootings on average take place in the afternoon for all age groups</vt:lpstr>
      <vt:lpstr>Shootings on average occurred in the afternoon in each Borough</vt:lpstr>
      <vt:lpstr>18-24 and 25-44 years olds were victims of most shootings</vt:lpstr>
      <vt:lpstr>Most shootings occurred in the Bronx and Brooklyn</vt:lpstr>
      <vt:lpstr>A total of roughly 28,500 shootings between 2006 and 2023. Victims aged 25-44 experienced the most shootings and Brooklyn had the highest number of shootings.</vt:lpstr>
      <vt:lpstr>Linear Model between Victim Age Group and Statistical Murder Flag</vt:lpstr>
      <vt:lpstr>Bias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Sorri</dc:creator>
  <cp:lastModifiedBy>Angel Sorri-battaroff</cp:lastModifiedBy>
  <cp:revision>49</cp:revision>
  <dcterms:created xsi:type="dcterms:W3CDTF">2024-08-16T22:03:26Z</dcterms:created>
  <dcterms:modified xsi:type="dcterms:W3CDTF">2025-11-18T01:00:50Z</dcterms:modified>
</cp:coreProperties>
</file>